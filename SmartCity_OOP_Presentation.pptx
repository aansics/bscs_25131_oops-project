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-2971800"/>
            <a:ext cx="4114800" cy="4114800"/>
          </a:xfrm>
          <a:prstGeom prst="ellipse">
            <a:avLst/>
          </a:prstGeom>
          <a:solidFill>
            <a:srgbClr val="1A3A6B">
              <a:alpha val="20000"/>
            </a:srgbClr>
          </a:solidFill>
          <a:ln w="12700">
            <a:solidFill>
              <a:srgbClr val="1A3A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194560"/>
            <a:ext cx="2011680" cy="201168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CITY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0128" y="3200400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&amp; Household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63056" y="3200400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584448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0128" y="3584448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63056" y="3584448"/>
            <a:ext cx="2651760" cy="256032"/>
          </a:xfrm>
          <a:prstGeom prst="roundRect">
            <a:avLst>
              <a:gd name="adj" fmla="val 25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BSCS25131 | OOP Project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CityManager → Singleton &amp; Facade | 6 Core Modules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(Singleton + Facade)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2103120"/>
            <a:ext cx="1371600" cy="594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System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103120"/>
            <a:ext cx="13716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&amp; Household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7744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103120"/>
            <a:ext cx="13716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8620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03120"/>
            <a:ext cx="13716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Systems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03120"/>
            <a:ext cx="13716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&amp; Budget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0372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2103120"/>
            <a:ext cx="1371600" cy="59436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412480" y="2103120"/>
            <a:ext cx="0" cy="-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063240"/>
            <a:ext cx="1325880" cy="365760"/>
          </a:xfrm>
          <a:prstGeom prst="rect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64208" y="3063240"/>
            <a:ext cx="1325880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45536" y="3063240"/>
            <a:ext cx="132588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5536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26864" y="3063240"/>
            <a:ext cx="1325880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08192" y="3063240"/>
            <a:ext cx="132588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89520" y="3063240"/>
            <a:ext cx="1325880" cy="365760"/>
          </a:xfrm>
          <a:prstGeom prst="rect">
            <a:avLst/>
          </a:prstGeom>
          <a:solidFill>
            <a:srgbClr val="0D6EFD">
              <a:alpha val="1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2880" y="349300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OOP Concepts Applied Across All Modules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822192"/>
          <a:ext cx="8778240" cy="1115568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8404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(owns lifecycle)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→ Shop, Incident → Patient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contains Shop objects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(no lifecycle)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→ Citizen, School → Student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Citizens exist independently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 (knows about)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→ Workplace, Retiree → Hospital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knows its employer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(is-a)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→ ResidentialBuilding → Building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3-level hierarchy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1: Building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15 Classes | Abstract → Intermediate → Concrete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(Abstract)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" y="2011680"/>
            <a:ext cx="21031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ResidentialBuilding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43000" y="2011680"/>
            <a:ext cx="0" cy="-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011680"/>
            <a:ext cx="21031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CommercialBuilding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29000" y="2011680"/>
            <a:ext cx="0" cy="-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011680"/>
            <a:ext cx="21031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IndustrialBuilding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760720" y="2011680"/>
            <a:ext cx="0" cy="-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2011680"/>
            <a:ext cx="21031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PublicServiceBldg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0" cy="-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" y="2788920"/>
            <a:ext cx="2103120" cy="292608"/>
          </a:xfrm>
          <a:prstGeom prst="rect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1440" y="3136392"/>
            <a:ext cx="2103120" cy="292608"/>
          </a:xfrm>
          <a:prstGeom prst="rect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3136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1440" y="3483864"/>
            <a:ext cx="2103120" cy="292608"/>
          </a:xfrm>
          <a:prstGeom prst="rect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3483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TowerBlock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77440" y="2788920"/>
            <a:ext cx="2103120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377440" y="3136392"/>
            <a:ext cx="2103120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136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377440" y="3483864"/>
            <a:ext cx="2103120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483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77440" y="3831336"/>
            <a:ext cx="2103120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9160" y="2788920"/>
            <a:ext cx="2103120" cy="29260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3136392"/>
            <a:ext cx="2103120" cy="29260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136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95160" y="2788920"/>
            <a:ext cx="2103120" cy="2926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95160" y="3136392"/>
            <a:ext cx="2103120" cy="2926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136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95160" y="3483864"/>
            <a:ext cx="2103120" cy="2926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483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FireStation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995160" y="3831336"/>
            <a:ext cx="2103120" cy="29260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PoliceStation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1440" y="4544568"/>
            <a:ext cx="8961120" cy="502920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5628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calculateMaintenanceCost(), getDailyVisitors(), getBuildingType(), displayDetails()  |  </a:t>
            </a:r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pointer → derived classes  |  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in buildings  |  Static buildingCounter for ID generation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2: Citizen &amp; Household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Citizen → Student / Retiree | Household Composition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4160520" cy="3886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HIERARCHY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572768"/>
            <a:ext cx="2286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72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(Abstract)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0" y="2212848"/>
            <a:ext cx="228600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(Concrete)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1554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80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(Derived)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2880360"/>
            <a:ext cx="1554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880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 (Derived)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32918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84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(Composite)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2212848"/>
            <a:ext cx="0" cy="-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80360"/>
            <a:ext cx="0" cy="-2834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2880360"/>
            <a:ext cx="0" cy="-2834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143000"/>
            <a:ext cx="4572000" cy="3886200"/>
          </a:xfrm>
          <a:prstGeom prst="rect">
            <a:avLst/>
          </a:prstGeom>
          <a:solidFill>
            <a:srgbClr val="FEFCE8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RELATIONSHIPS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1572768"/>
            <a:ext cx="548640" cy="320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572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5727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↔ Person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173736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Self-ref: spouse, children, parents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26280" y="2139696"/>
            <a:ext cx="54864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1396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1396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↔ CommercialBldg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66360" y="230428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works at (no ownership)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26280" y="2706624"/>
            <a:ext cx="5486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7066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7066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↔ ResidentialBldg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287121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bidirectional (home ↔ resident)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3273552"/>
            <a:ext cx="548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273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273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↔ School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6360" y="343814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bidirectional enrollment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26280" y="3840480"/>
            <a:ext cx="5486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8404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↔ Citizen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66360" y="400507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aggregation: members collection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26280" y="4407408"/>
            <a:ext cx="548640" cy="3200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4407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44074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 ↔ Hospital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66360" y="457200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 preferred hospital link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7160" y="4544568"/>
            <a:ext cx="8869680" cy="502920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5628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getOccupation(), getIncome(), performDailyActivity(), displayInfo()  |  </a:t>
            </a:r>
            <a:pPr indent="0" marL="0">
              <a:buNone/>
            </a:pPr>
            <a:r>
              <a:rPr lang="en-US" sz="78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overloading: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Retiree(Citizen&amp; c, pension)  |  </a:t>
            </a:r>
            <a:pPr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personCounter, householdCounter  |  Lifecycle: Student→Citizen graduation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3: Vehicle &amp; Transportation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→ PrivateCar / PublicTransport → Bus / Taxi / Train | Road &amp; Traffic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(Abstract Base)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1920240"/>
            <a:ext cx="219456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PrivateCar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34440" y="1920240"/>
            <a:ext cx="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920240"/>
            <a:ext cx="21945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PublicTransport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11880" y="1920240"/>
            <a:ext cx="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920240"/>
            <a:ext cx="21945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EmergencyVehicle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920240"/>
            <a:ext cx="1920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UtilityVehicle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229600" y="1920240"/>
            <a:ext cx="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" y="2743200"/>
            <a:ext cx="2194560" cy="310896"/>
          </a:xfrm>
          <a:prstGeom prst="rect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Car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14600" y="2743200"/>
            <a:ext cx="2194560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108960"/>
            <a:ext cx="2194560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1089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14600" y="3474720"/>
            <a:ext cx="2194560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74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92040" y="2743200"/>
            <a:ext cx="2194560" cy="31089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92040" y="3108960"/>
            <a:ext cx="2194560" cy="31089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089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FireTruck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92040" y="3474720"/>
            <a:ext cx="2194560" cy="31089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474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PatrolCar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69480" y="2743200"/>
            <a:ext cx="1920240" cy="31089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743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GarbageTruck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69480" y="3108960"/>
            <a:ext cx="1920240" cy="31089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MaintenanceVan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7160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Classes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7160" y="4133088"/>
            <a:ext cx="21031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377440" y="4133088"/>
            <a:ext cx="21031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Pattern)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17720" y="4133088"/>
            <a:ext cx="21031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(Composition)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58000" y="4133088"/>
            <a:ext cx="21031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TrafficSystem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(Coordinator)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7160" y="4572000"/>
            <a:ext cx="886968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590288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drive(), refuel(), getFuelConsumption(), getVehicleType()  |  </a:t>
            </a:r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Pattern: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TrafficLight (RED/YELLOW/GREEN)  |  </a:t>
            </a:r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owns TrafficLight  |  Association: Vehicle→Citizen (owner), Vehicle→Road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4: Utility Systems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UtilityService (Abstract) → PowerService / WaterService / WasteService | Singleton Pattern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143000"/>
            <a:ext cx="2834640" cy="324612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143000"/>
            <a:ext cx="2834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+ Abstract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" y="1938528"/>
            <a:ext cx="2560320" cy="32918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938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" y="2322576"/>
            <a:ext cx="2560320" cy="32918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322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1752" y="2706624"/>
            <a:ext cx="2560320" cy="32918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7066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6032" y="3337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generatePower(), distributePower(),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manageBlackout(), calculateBill()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54680" y="1143000"/>
            <a:ext cx="2834640" cy="324612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43000"/>
            <a:ext cx="283464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+ Abstract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1840" y="1938528"/>
            <a:ext cx="2560320" cy="329184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938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WaterPlant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322576"/>
            <a:ext cx="2560320" cy="329184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322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706624"/>
            <a:ext cx="2560320" cy="329184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066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PipeNetwork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46120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46120" y="3337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treatWater(), distributeWater(),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monitorQuality(), detectLeaks()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144768" y="1143000"/>
            <a:ext cx="2834640" cy="324612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1143000"/>
            <a:ext cx="28346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WasteService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+ Abstract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81928" y="1938528"/>
            <a:ext cx="2560320" cy="329184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1938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RecyclingCenter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81928" y="2322576"/>
            <a:ext cx="2560320" cy="329184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3225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1928" y="2706624"/>
            <a:ext cx="2560320" cy="329184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27066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CollectionRoute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36208" y="3337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collectWaste(), processRecycling(),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treatHazardous(), generateReport()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64592" y="4453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OOP Concepts in Utility Module: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536192" y="4709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per service across city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45152" y="4709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Method: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6752" y="4709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distributeService() defines algorithm; sub-steps overridden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4592" y="4965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536192" y="4965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UtilityService: pure virtual deliver(), monitor()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45152" y="49651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6752" y="4965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PowerPlant, Reservoir inherit service classes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5: Economic &amp; Budget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RetailBusiness / ServiceBusiness / Bank | CityBudget Singleton | TaxSystem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4206240" cy="333756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HIERARCHY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536192"/>
            <a:ext cx="25603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36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(Abstract Base)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196596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RetailBusiness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07008" y="214884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06040"/>
            <a:ext cx="1965960" cy="274320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2935224"/>
            <a:ext cx="1965960" cy="274320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35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3264408"/>
            <a:ext cx="1965960" cy="274320"/>
          </a:xfrm>
          <a:prstGeom prst="rect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77440" y="2148840"/>
            <a:ext cx="1965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ServiceBusiness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55848" y="214884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2606040"/>
            <a:ext cx="19659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606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77440" y="2935224"/>
            <a:ext cx="19659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9352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77440" y="3264408"/>
            <a:ext cx="19659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767328"/>
            <a:ext cx="18288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CityBudget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(Singleton)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40280" y="3767328"/>
            <a:ext cx="18288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TaxSystem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(Strategy)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1960" y="3767328"/>
            <a:ext cx="1828800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(Financial Hub)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1143000"/>
            <a:ext cx="4572000" cy="3337560"/>
          </a:xfrm>
          <a:prstGeom prst="rect">
            <a:avLst/>
          </a:prstGeom>
          <a:solidFill>
            <a:srgbClr val="FEFCE8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1207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OOP CONCEPTS &amp; REQUIREMENTS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1536192"/>
            <a:ext cx="1554480" cy="23774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536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 Methods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17920" y="15361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calculateRevenue(), calculateTax(),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performBusinessOp(), displayFinancials()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0" y="2112264"/>
            <a:ext cx="1554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1122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2112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TaxSystem: different tax algorithms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(FlatTax, ProgressiveTax, CorporateTax)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2688336"/>
            <a:ext cx="15544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6883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26883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Business* pointer → any business type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dispatch of calculateRevenue()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3264408"/>
            <a:ext cx="155448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264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Association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32644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Business→Citizen (owner, employees)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Business→CommercialBuilding (location)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572000" y="3840480"/>
            <a:ext cx="155448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8404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(CityBudget)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17920" y="38404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budget instance; tracks revenue,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departmental allocations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" y="4544568"/>
            <a:ext cx="8869680" cy="502920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5628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Business: calculateRevenue()=0, calculateTax()=0  |  </a:t>
            </a:r>
            <a:pPr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map&lt;string,double&gt; expenseCategories, vector&lt;Citizen*&gt; employees  |  </a:t>
            </a:r>
            <a:pPr indent="0" marL="0">
              <a:buNone/>
            </a:pPr>
            <a:r>
              <a:rPr lang="en-US" sz="78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</a:t>
            </a:r>
            <a:pPr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InsufficientFundsException, BankruptcyException thrown by CityBudget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6: Emergency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EmergencyService + Incident hierarchies | DispatchSystem Mediator Pattern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4206240" cy="333756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HIERARCHY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536192"/>
            <a:ext cx="256032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EmergencyService (Abstract)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12344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FireDepartment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9154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103120"/>
            <a:ext cx="12344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PoliceDepartment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1742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103120"/>
            <a:ext cx="12344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MedicalService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54330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697480"/>
            <a:ext cx="3108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DispatchSystem (Mediator)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respondToIncident()*, dispatch()*, canHandle()*, performDuties()*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routes incidents; services don't communicate directly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Responsibility for escalation (LOW→MEDIUM→HIGH→CRITICAL)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80560" y="1143000"/>
            <a:ext cx="4572000" cy="3337560"/>
          </a:xfrm>
          <a:prstGeom prst="rect">
            <a:avLst/>
          </a:prstGeom>
          <a:solidFill>
            <a:srgbClr val="FFF8F0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1207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HIERARCHY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536192"/>
            <a:ext cx="22860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(Abstract)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2103120"/>
            <a:ext cx="13258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103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FireIncident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3494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2103120"/>
            <a:ext cx="132588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103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CrimeIncident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65226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103120"/>
            <a:ext cx="13258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103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MedicalIncident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069580" y="2103120"/>
            <a:ext cx="0" cy="-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describe(), calculateDamage(), getIncidentCategory()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Levels: LOW | MEDIUM | HIGH | CRITICAL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casting used for type-specific handling at runtime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3200400"/>
            <a:ext cx="4389120" cy="1234440"/>
          </a:xfrm>
          <a:prstGeom prst="rect">
            <a:avLst/>
          </a:prstGeom>
          <a:solidFill>
            <a:srgbClr val="FFF0F0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3246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MedicalIncident Composition: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34930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(inner struct): name, symptoms, severity, status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MedicalIncident owns Patients (Composition – lifecycle control)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addPatient(), stabilize(), transport(), admitToHospital()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37160" y="4572000"/>
            <a:ext cx="8869680" cy="457200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590288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respondToIncident(), dispatch(), canHandle(), getServiceType()  |  </a:t>
            </a:r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handleIncident() defines workflow  |  </a:t>
            </a:r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Cast: </a:t>
            </a:r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incident type at runtime; STL: queue&lt;Incident*&gt; for dispatch prioritization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OOP Concepts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· Polymorphism · Exceptions · Encapsulation across all modules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170432"/>
            <a:ext cx="4297680" cy="182880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1170432"/>
            <a:ext cx="42976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70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  Inheritance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Multi-level: Building→ResidentialBuilding→House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901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3-level: Person→Citizen→Student/Retiree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3-level: Vehicle→PublicTransport→Bus/Train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140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keyword enforces contract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6700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destructor for clean polymorphic delete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297680" cy="182880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70432"/>
            <a:ext cx="42976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70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Polymorphism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645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Building* → any derived type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0600" y="1901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virtual: calculateMaintenanceCost()=0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cast: identify service/incident type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24140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overloading (constructor overloads)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6700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 defines invariant algorithm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" y="3090672"/>
            <a:ext cx="4297680" cy="182880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3090672"/>
            <a:ext cx="42976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" y="3090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Exception Handling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566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InsufficientFundsException → CityBudget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8221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BankruptcyException → Business class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0782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BuildingNotFoundException → CityManager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3342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VehicleOutOfFuelException → Vehicle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590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EmergencyDispatchException → DispatchSystem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3090672"/>
            <a:ext cx="4297680" cy="182880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90672"/>
            <a:ext cx="4297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90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Encapsulation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566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counters, computed fields, passwords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38221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inherited attributes across hierarchy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40782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getter/setter with validation logic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43342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(Product, MenuItem, FloorInfo) inside class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4590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private constructor + getInstance()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37160" y="4919472"/>
            <a:ext cx="8869680" cy="201168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93776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Used Throughout: vector&lt;&gt; (collections), map&lt;&gt; (zone→officer), queue&lt;&gt; (dispatch), struct (nested data models)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Automation – All Module Requirements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56032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Building 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26080" y="10515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classes (4 abstract, 4 intermediate, 7+ concrete). Pure virtual: calculateMaintenanceCost, getDailyVisitors, getBuildingType. Composition: residents in buildings. Static counter for unique IDs.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613916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673352"/>
            <a:ext cx="2560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73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Citizen &amp; Household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16733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classes. Pure virtual: getOccupation, getIncome, performDailyActivity. Self-referential Person. Constructor overloading in Retiree. Static personCounter.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235708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295144"/>
            <a:ext cx="2560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2951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Transportation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6080" y="229514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classes. Pure virtual: drive, refuel, getFuelConsumption, getVehicleType. State Pattern: TrafficLight. Composition: Intersection→TrafficLight.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857500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16936"/>
            <a:ext cx="2560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169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Utility Systems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9169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classes. Singleton pattern for Power/Water/Waste. Template Method: distributeService(). Pure virtual: deliver(), monitor(), calculateBill().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3479292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38728"/>
            <a:ext cx="25603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38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Economy &amp; Budget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3538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classes. Strategy Pattern: TaxSystem. CityBudget Singleton. Exceptions: InsufficientFundsException, BankruptcyException. STL map for expense tracking.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4101084"/>
            <a:ext cx="8686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160520"/>
            <a:ext cx="25603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Emergency 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0" y="41605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classes. Mediator: DispatchSystem. Chain of Responsibility for escalation. Dynamic casting for incident type. queue&lt;Incident*&gt; for prioritized dispatch.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10328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CityManager (Singleton + Facade) coordinates all 6 modules  |  Total: 55+ classes  |  Core patterns: Singleton, Strategy, Template Method, Mediator, State, Chain of Responsibility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Automation – OOP Design</dc:title>
  <dc:subject>PptxGenJS Presentation</dc:subject>
  <dc:creator>PptxGenJS</dc:creator>
  <cp:lastModifiedBy>PptxGenJS</cp:lastModifiedBy>
  <cp:revision>1</cp:revision>
  <dcterms:created xsi:type="dcterms:W3CDTF">2026-05-12T11:53:47Z</dcterms:created>
  <dcterms:modified xsi:type="dcterms:W3CDTF">2026-05-12T11:53:47Z</dcterms:modified>
</cp:coreProperties>
</file>